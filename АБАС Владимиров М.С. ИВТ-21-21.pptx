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9" r:id="rId4"/>
    <p:sldId id="258" r:id="rId5"/>
    <p:sldId id="261" r:id="rId6"/>
    <p:sldId id="260" r:id="rId7"/>
    <p:sldId id="262" r:id="rId8"/>
    <p:sldId id="264" r:id="rId9"/>
    <p:sldId id="257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DDC54D-896E-0603-1D46-6B3EDCDA2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514333F-D8D6-33BB-EB18-6B785BF2C0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B07C4C-757A-C5AC-281B-20B225D19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18F8-6EE2-4461-A242-302A260FE84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2B8370-9454-C19B-82FC-E2DC8D1A2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120839-7F93-9A28-589A-F27136529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6643C-5287-43B0-9FEF-A955058F7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647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9FBF5D-573F-1CF8-E699-BED231CE2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CC0C9F-8471-9894-1D5F-D695E7F4B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1F0C68-03A6-FBAA-548F-327FC3001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18F8-6EE2-4461-A242-302A260FE84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37E168-83A4-5AAD-2BC0-753CDC22C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027C24-2295-A9FA-E034-BB6A44B03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6643C-5287-43B0-9FEF-A955058F7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1504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9EA535-B762-92A7-A664-8D10D0D99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8A47CF-DF8E-971B-B625-5E1B82C29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9165B2-A867-2BE3-BCFF-4734F3EB8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18F8-6EE2-4461-A242-302A260FE84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010110-16D3-21DA-E5C1-9F1C0B2AC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8D9F8F-5AB1-1BFC-7805-97B22D6FE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6643C-5287-43B0-9FEF-A955058F7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107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C52894-7BD0-205B-D6B0-A0CFAFA2B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A3F9A8-2761-F9CD-E4B2-0C855E3C9C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9873006-6FDB-8431-BA82-7A1DC7E8B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28E3DA-D766-20C0-E012-3F239D658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18F8-6EE2-4461-A242-302A260FE84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A6B3D0-BACF-F3A5-DCBF-78D288E5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A18062-D3A3-4F51-05B9-6DDF8AB60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6643C-5287-43B0-9FEF-A955058F7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4436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1E8A0-9394-59C4-F668-3379C6F90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F67C47-2D05-1F40-B5A5-7A383755A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749DDDB-57E7-2FFE-D46A-8C9F1C915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0C2E841-35BC-CC88-690A-4531832BEE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B437C9A-64C0-D598-B291-C2BC545540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5CA9A0A-775E-0A59-3EF1-088D5106D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18F8-6EE2-4461-A242-302A260FE84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5FC27C-F057-54BE-5FC0-F5B9EB5B1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EB35EE3-50B1-516E-9877-ECB6FC84C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6643C-5287-43B0-9FEF-A955058F7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47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348622-2304-68BF-F4DA-B769A082D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8759F37-A6E5-BCA5-9F94-DD027B3CB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18F8-6EE2-4461-A242-302A260FE84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F82DADC-1275-44F2-5E49-BD9E6BAD6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44E9A69-8FC0-91C7-20D1-362406F57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6643C-5287-43B0-9FEF-A955058F7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3851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09F76D0-5B09-E8B7-0601-A1C1B94FA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18F8-6EE2-4461-A242-302A260FE84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8A467B1-57B8-98B7-70A7-8D9A212A8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9E7CF19-0161-3EEB-18D1-885A107BB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6643C-5287-43B0-9FEF-A955058F7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3017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77821-07CF-080C-79C8-956D3A12C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BBB5B0-1736-1D9A-5AA0-CBFD4B798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0C031E9-9E44-3379-0E11-57279B22DF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5CC1186-EC29-F349-E983-8E2BD35F5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18F8-6EE2-4461-A242-302A260FE84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D74790D-8DBE-8930-65CB-097BB3F6A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C33133F-CA1E-5155-BB30-77AD8DBDF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6643C-5287-43B0-9FEF-A955058F7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426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F9C1F1-FCEC-7A70-8FEB-677ECE097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4CD95CA-4ADE-488C-77CC-87AC85AC33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89D798D-4C71-8143-A4EB-108D561923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5B96BD1-EC27-2B7E-BF73-A15B8F1FB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18F8-6EE2-4461-A242-302A260FE84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B4ED7B9-111F-4D6F-669F-FD43D0A74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C2C6127-0E81-ED04-A028-980CBF487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6643C-5287-43B0-9FEF-A955058F7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9702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60E8DD-2A40-DFC4-84A2-D3F7DB2E0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FB50DCC-1FD5-C759-2EB7-3FD69D369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4B0381-E3EF-4A49-98E7-CA8BEEF7D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18F8-6EE2-4461-A242-302A260FE84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A3C96E-014D-0A5E-6D53-1939490E0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A9ECFD-C8B8-EB60-6C17-FAF85AF99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6643C-5287-43B0-9FEF-A955058F7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281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DE06556-7834-708A-3338-30AD2FE45A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DFDC8A5-57F7-F8B0-D89C-FBB277D8C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C8C4EC-D1CD-F527-8C50-B2E13DA47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18F8-6EE2-4461-A242-302A260FE84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13BF4C-E715-EF08-D183-D1FBC528D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DBF849-C686-AB2A-146E-A601F0500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6643C-5287-43B0-9FEF-A955058F7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158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A174F2-C4AB-ECB5-0856-C7C244AC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1F58EB-ECA5-043C-70C8-C8E22B3D3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B06658-9A9A-6F45-C199-38DA5EBB94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F18F8-6EE2-4461-A242-302A260FE84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02145F-58A7-DF37-60C6-F035010D89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1852D0-4849-5825-0455-5EA27E663F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D6643C-5287-43B0-9FEF-A955058F7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1326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0BF0DE-411E-83A3-1293-15A9C78933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24994"/>
            <a:ext cx="9144000" cy="1608011"/>
          </a:xfrm>
        </p:spPr>
        <p:txBody>
          <a:bodyPr>
            <a:normAutofit fontScale="90000"/>
          </a:bodyPr>
          <a:lstStyle/>
          <a:p>
            <a:r>
              <a:rPr lang="ru-RU" dirty="0"/>
              <a:t>Анализ безопасности автоматизированных систем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F94A794-A24D-62D0-365D-7B555A05E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49056" y="5735636"/>
            <a:ext cx="3742944" cy="1122363"/>
          </a:xfrm>
        </p:spPr>
        <p:txBody>
          <a:bodyPr/>
          <a:lstStyle/>
          <a:p>
            <a:pPr algn="l"/>
            <a:r>
              <a:rPr lang="ru-RU" dirty="0"/>
              <a:t>Работу выполнил</a:t>
            </a:r>
            <a:r>
              <a:rPr lang="en-US" dirty="0"/>
              <a:t>: </a:t>
            </a:r>
            <a:br>
              <a:rPr lang="ru-RU" dirty="0"/>
            </a:br>
            <a:r>
              <a:rPr lang="ru-RU" dirty="0"/>
              <a:t>студент группы ИВТ-21-21</a:t>
            </a:r>
            <a:br>
              <a:rPr lang="ru-RU" dirty="0"/>
            </a:br>
            <a:r>
              <a:rPr lang="ru-RU" dirty="0"/>
              <a:t>Владимиров М.С.</a:t>
            </a:r>
          </a:p>
        </p:txBody>
      </p:sp>
    </p:spTree>
    <p:extLst>
      <p:ext uri="{BB962C8B-B14F-4D97-AF65-F5344CB8AC3E}">
        <p14:creationId xmlns:p14="http://schemas.microsoft.com/office/powerpoint/2010/main" val="53268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931B36-CF98-25D3-38CF-943DA035C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220386-4652-A5AB-7270-B413AF4DF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348" y="1825625"/>
            <a:ext cx="525346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/>
              <a:t>Лекции</a:t>
            </a:r>
          </a:p>
          <a:p>
            <a:r>
              <a:rPr lang="ru-RU" sz="2200" dirty="0"/>
              <a:t>0. Вводная тема</a:t>
            </a:r>
          </a:p>
          <a:p>
            <a:r>
              <a:rPr lang="ru-RU" sz="2200" dirty="0"/>
              <a:t>1. Средства обнаружения</a:t>
            </a:r>
          </a:p>
          <a:p>
            <a:r>
              <a:rPr lang="ru-RU" sz="2200" dirty="0"/>
              <a:t>2. Требования к Firewall</a:t>
            </a:r>
          </a:p>
          <a:p>
            <a:r>
              <a:rPr lang="ru-RU" sz="2200" dirty="0"/>
              <a:t>3. Безопасность СУБД</a:t>
            </a:r>
          </a:p>
          <a:p>
            <a:r>
              <a:rPr lang="ru-RU" sz="2200" dirty="0"/>
              <a:t>4. Сбор исходной информации</a:t>
            </a:r>
          </a:p>
          <a:p>
            <a:r>
              <a:rPr lang="ru-RU" sz="2200" dirty="0"/>
              <a:t>5. Анализ уязвимостей</a:t>
            </a:r>
          </a:p>
          <a:p>
            <a:r>
              <a:rPr lang="ru-RU" sz="2200" dirty="0"/>
              <a:t>6. Защита информации от </a:t>
            </a:r>
            <a:r>
              <a:rPr lang="en-US" sz="2200" dirty="0"/>
              <a:t>DOS</a:t>
            </a:r>
            <a:endParaRPr lang="ru-RU" sz="2200" dirty="0"/>
          </a:p>
          <a:p>
            <a:r>
              <a:rPr lang="ru-RU" sz="2200" dirty="0"/>
              <a:t>7. Оценка выявленных уязвимостей</a:t>
            </a:r>
          </a:p>
          <a:p>
            <a:endParaRPr lang="ru-RU" sz="2200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1CF1A030-B21C-5B91-7B95-682998FD215E}"/>
              </a:ext>
            </a:extLst>
          </p:cNvPr>
          <p:cNvSpPr txBox="1">
            <a:spLocks/>
          </p:cNvSpPr>
          <p:nvPr/>
        </p:nvSpPr>
        <p:spPr>
          <a:xfrm>
            <a:off x="5065776" y="1940369"/>
            <a:ext cx="7126224" cy="4558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200" dirty="0"/>
              <a:t>Практика</a:t>
            </a:r>
          </a:p>
          <a:p>
            <a:r>
              <a:rPr lang="ru-RU" sz="2200" dirty="0"/>
              <a:t>0. Создание автоматизированной системы</a:t>
            </a:r>
          </a:p>
          <a:p>
            <a:r>
              <a:rPr lang="ru-RU" sz="2200" dirty="0"/>
              <a:t>2. Настройка сетевого оборудования (</a:t>
            </a:r>
            <a:r>
              <a:rPr lang="ru-RU" sz="2200" dirty="0" err="1"/>
              <a:t>usergate</a:t>
            </a:r>
            <a:r>
              <a:rPr lang="ru-RU" sz="2200" dirty="0"/>
              <a:t>/Код безопасности)</a:t>
            </a:r>
          </a:p>
          <a:p>
            <a:r>
              <a:rPr lang="ru-RU" sz="2200" dirty="0"/>
              <a:t>3. Настройка сетевого оборудования (</a:t>
            </a:r>
            <a:r>
              <a:rPr lang="ru-RU" sz="2200" dirty="0" err="1"/>
              <a:t>cisco</a:t>
            </a:r>
            <a:r>
              <a:rPr lang="ru-RU" sz="2200" dirty="0"/>
              <a:t>/</a:t>
            </a:r>
            <a:r>
              <a:rPr lang="ru-RU" sz="2200" dirty="0" err="1"/>
              <a:t>mikrotik</a:t>
            </a:r>
            <a:r>
              <a:rPr lang="ru-RU" sz="2200" dirty="0"/>
              <a:t> )</a:t>
            </a:r>
          </a:p>
          <a:p>
            <a:r>
              <a:rPr lang="ru-RU" sz="2200" dirty="0"/>
              <a:t>4. Сбор информации автоматизированной системы</a:t>
            </a:r>
          </a:p>
          <a:p>
            <a:r>
              <a:rPr lang="ru-RU" sz="2200" dirty="0"/>
              <a:t>5. Внутренний анализ уязвимостей</a:t>
            </a:r>
          </a:p>
          <a:p>
            <a:r>
              <a:rPr lang="ru-RU" sz="2200" dirty="0"/>
              <a:t>6. Внешний анализ уязвимостей</a:t>
            </a:r>
          </a:p>
          <a:p>
            <a:r>
              <a:rPr lang="ru-RU" sz="2200" dirty="0"/>
              <a:t>7. Оценка выявленных уязвимостей</a:t>
            </a:r>
          </a:p>
        </p:txBody>
      </p:sp>
    </p:spTree>
    <p:extLst>
      <p:ext uri="{BB962C8B-B14F-4D97-AF65-F5344CB8AC3E}">
        <p14:creationId xmlns:p14="http://schemas.microsoft.com/office/powerpoint/2010/main" val="3046918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3B41D1-187E-4BE1-3E3C-BF1B74462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0. Вводная тема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5FA725-2191-8EC3-D6A8-67B5D6749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Определение термина ИС</a:t>
            </a:r>
          </a:p>
          <a:p>
            <a:r>
              <a:rPr lang="ru-RU" dirty="0"/>
              <a:t>Виды ИС</a:t>
            </a:r>
          </a:p>
          <a:p>
            <a:r>
              <a:rPr lang="ru-RU" dirty="0"/>
              <a:t>Определение термина АС</a:t>
            </a:r>
          </a:p>
          <a:p>
            <a:r>
              <a:rPr lang="ru-RU" dirty="0"/>
              <a:t>Параметры класса защищённости АС</a:t>
            </a:r>
          </a:p>
          <a:p>
            <a:r>
              <a:rPr lang="ru-RU" dirty="0"/>
              <a:t>Классы защищённости АС</a:t>
            </a:r>
          </a:p>
          <a:p>
            <a:r>
              <a:rPr lang="ru-RU" dirty="0"/>
              <a:t>Классификация СЗИ</a:t>
            </a:r>
          </a:p>
        </p:txBody>
      </p:sp>
    </p:spTree>
    <p:extLst>
      <p:ext uri="{BB962C8B-B14F-4D97-AF65-F5344CB8AC3E}">
        <p14:creationId xmlns:p14="http://schemas.microsoft.com/office/powerpoint/2010/main" val="1508567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4AFE4B-1AE1-856F-B635-07AFC945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1. Средства обнаружения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7F8F01-A417-1BF0-C94F-12AF28462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Определение термина СОВ</a:t>
            </a:r>
          </a:p>
          <a:p>
            <a:r>
              <a:rPr lang="ru-RU" dirty="0"/>
              <a:t>Ключевые аспекты требований к средствам обнаружения и реагирования на инциденты на уровне узла</a:t>
            </a:r>
          </a:p>
          <a:p>
            <a:r>
              <a:rPr lang="ru-RU" dirty="0"/>
              <a:t>Классификацию СОВ</a:t>
            </a:r>
          </a:p>
          <a:p>
            <a:r>
              <a:rPr lang="ru-RU" dirty="0"/>
              <a:t>Типы систем обнаружения вторжений СОВ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7661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826E33-65FB-DB29-EC9F-779FCCD17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2. Требования к </a:t>
            </a:r>
            <a:r>
              <a:rPr lang="en-US" dirty="0"/>
              <a:t>Firewall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2D7120-09F6-99CC-9D60-EDE97371B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Классификация МЭ</a:t>
            </a:r>
          </a:p>
          <a:p>
            <a:r>
              <a:rPr lang="ru-RU" dirty="0"/>
              <a:t>Классы защиты</a:t>
            </a:r>
          </a:p>
          <a:p>
            <a:r>
              <a:rPr lang="ru-RU" dirty="0"/>
              <a:t>Типы МЭ</a:t>
            </a:r>
          </a:p>
        </p:txBody>
      </p:sp>
    </p:spTree>
    <p:extLst>
      <p:ext uri="{BB962C8B-B14F-4D97-AF65-F5344CB8AC3E}">
        <p14:creationId xmlns:p14="http://schemas.microsoft.com/office/powerpoint/2010/main" val="2747078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1844DE-5C2D-BFCA-41B9-00AFE33D7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3. Безопасность СУБД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BBE38E-EFFE-DA8D-5296-CA77076EB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Область применения</a:t>
            </a:r>
          </a:p>
          <a:p>
            <a:r>
              <a:rPr lang="ru-RU" dirty="0"/>
              <a:t>Меры защиты</a:t>
            </a:r>
          </a:p>
          <a:p>
            <a:r>
              <a:rPr lang="ru-RU" dirty="0"/>
              <a:t>Уровни доверия</a:t>
            </a:r>
          </a:p>
          <a:p>
            <a:r>
              <a:rPr lang="ru-RU" b="0" i="0" dirty="0">
                <a:effectLst/>
                <a:latin typeface="fkGroteskNeue"/>
              </a:rPr>
              <a:t>Аудит и мониторинг событий</a:t>
            </a:r>
          </a:p>
          <a:p>
            <a:r>
              <a:rPr lang="ru-RU" b="0" i="0" dirty="0">
                <a:effectLst/>
                <a:latin typeface="fkGroteskNeue"/>
              </a:rPr>
              <a:t>Защита от угроз целостности и доступности</a:t>
            </a:r>
          </a:p>
          <a:p>
            <a:r>
              <a:rPr lang="ru-RU" b="0" i="0" dirty="0">
                <a:effectLst/>
                <a:latin typeface="fkGroteskNeue"/>
              </a:rPr>
              <a:t>Тестирование и сертификация</a:t>
            </a:r>
          </a:p>
        </p:txBody>
      </p:sp>
    </p:spTree>
    <p:extLst>
      <p:ext uri="{BB962C8B-B14F-4D97-AF65-F5344CB8AC3E}">
        <p14:creationId xmlns:p14="http://schemas.microsoft.com/office/powerpoint/2010/main" val="1156975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2719EA-9D3C-DEB4-DA92-FCADDCFA7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4. Анализа защищенности ИС. </a:t>
            </a:r>
            <a:br>
              <a:rPr lang="ru-RU" dirty="0"/>
            </a:br>
            <a:r>
              <a:rPr lang="ru-RU" dirty="0"/>
              <a:t>Сбор исходной информации (инвентаризация)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49A1C1-C7DC-DFB9-0B65-B5FBDED0F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Требования методики ФСТЭК</a:t>
            </a:r>
          </a:p>
          <a:p>
            <a:r>
              <a:rPr lang="ru-RU" dirty="0"/>
              <a:t>Периметр</a:t>
            </a:r>
          </a:p>
          <a:p>
            <a:r>
              <a:rPr lang="ru-RU" dirty="0"/>
              <a:t>Внутренняя инфраструктура</a:t>
            </a:r>
          </a:p>
          <a:p>
            <a:r>
              <a:rPr lang="ru-RU" dirty="0"/>
              <a:t>Практические инструменты</a:t>
            </a:r>
          </a:p>
        </p:txBody>
      </p:sp>
    </p:spTree>
    <p:extLst>
      <p:ext uri="{BB962C8B-B14F-4D97-AF65-F5344CB8AC3E}">
        <p14:creationId xmlns:p14="http://schemas.microsoft.com/office/powerpoint/2010/main" val="3057486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446185-A18D-9045-5ED3-0BB4C7E1D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5. Анализа защищенности ИС.</a:t>
            </a:r>
            <a:br>
              <a:rPr lang="en-US" dirty="0"/>
            </a:br>
            <a:r>
              <a:rPr lang="ru-RU" dirty="0"/>
              <a:t>Анализ уязвимостей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C10EA4-385C-2728-41AC-16F3D07F3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Внешний анализ уязвимостей (С1)</a:t>
            </a:r>
          </a:p>
          <a:p>
            <a:r>
              <a:rPr lang="ru-RU" dirty="0"/>
              <a:t>Внутренний анализ уязвимостей (С2)</a:t>
            </a:r>
          </a:p>
        </p:txBody>
      </p:sp>
    </p:spTree>
    <p:extLst>
      <p:ext uri="{BB962C8B-B14F-4D97-AF65-F5344CB8AC3E}">
        <p14:creationId xmlns:p14="http://schemas.microsoft.com/office/powerpoint/2010/main" val="4082861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51AFA3-B119-B186-9973-589DE9C86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6. Защита информации от </a:t>
            </a:r>
            <a:r>
              <a:rPr lang="en-US" dirty="0"/>
              <a:t>DOS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983CE8-411A-BB9F-9757-C4140BF9B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Определение термина</a:t>
            </a:r>
            <a:r>
              <a:rPr lang="en-US" dirty="0"/>
              <a:t> </a:t>
            </a:r>
            <a:r>
              <a:rPr lang="ru-RU" dirty="0"/>
              <a:t>отказ в обслуживании</a:t>
            </a:r>
          </a:p>
          <a:p>
            <a:r>
              <a:rPr lang="ru-RU" dirty="0"/>
              <a:t>Цели и область применения</a:t>
            </a:r>
          </a:p>
          <a:p>
            <a:r>
              <a:rPr lang="ru-RU" dirty="0"/>
              <a:t>Классификация угроз</a:t>
            </a:r>
          </a:p>
          <a:p>
            <a:r>
              <a:rPr lang="ru-RU" dirty="0"/>
              <a:t>Функциональные требования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3589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64F268-0815-3EC0-C2A7-25F1EF307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7. Анализа защищенности ИС.</a:t>
            </a:r>
            <a:br>
              <a:rPr lang="en-US" dirty="0"/>
            </a:br>
            <a:r>
              <a:rPr lang="ru-RU" dirty="0"/>
              <a:t>Оценка выявленных уязвимостей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E131DA-ED7B-D0FD-17BA-FAB631641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Нормативная основа оценки</a:t>
            </a:r>
          </a:p>
          <a:p>
            <a:r>
              <a:rPr lang="ru-RU" dirty="0"/>
              <a:t>Ключевые понятия и критерии</a:t>
            </a:r>
          </a:p>
          <a:p>
            <a:r>
              <a:rPr lang="ru-RU" dirty="0"/>
              <a:t>Процесс оценки</a:t>
            </a:r>
          </a:p>
        </p:txBody>
      </p:sp>
    </p:spTree>
    <p:extLst>
      <p:ext uri="{BB962C8B-B14F-4D97-AF65-F5344CB8AC3E}">
        <p14:creationId xmlns:p14="http://schemas.microsoft.com/office/powerpoint/2010/main" val="34702908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267</Words>
  <Application>Microsoft Office PowerPoint</Application>
  <PresentationFormat>Широкоэкранный</PresentationFormat>
  <Paragraphs>60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fkGroteskNeue</vt:lpstr>
      <vt:lpstr>Тема Office</vt:lpstr>
      <vt:lpstr>Анализ безопасности автоматизированных систем</vt:lpstr>
      <vt:lpstr>Введение</vt:lpstr>
      <vt:lpstr>0. Вводная тема</vt:lpstr>
      <vt:lpstr>1. Средства обнаружения</vt:lpstr>
      <vt:lpstr>2. Требования к Firewall</vt:lpstr>
      <vt:lpstr>3. Безопасность СУБД</vt:lpstr>
      <vt:lpstr>4. Анализа защищенности ИС.  Сбор исходной информации (инвентаризация)</vt:lpstr>
      <vt:lpstr>5. Анализа защищенности ИС. Анализ уязвимостей</vt:lpstr>
      <vt:lpstr> 6. Защита информации от DOS</vt:lpstr>
      <vt:lpstr>7. Анализа защищенности ИС. Оценка выявленных уязвимостей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4</cp:revision>
  <dcterms:created xsi:type="dcterms:W3CDTF">2026-01-11T13:52:56Z</dcterms:created>
  <dcterms:modified xsi:type="dcterms:W3CDTF">2026-01-11T19:04:53Z</dcterms:modified>
</cp:coreProperties>
</file>